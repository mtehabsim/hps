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>
                <a:solidFill>
                  <a:srgbClr val="1F3A5F"/>
                </a:solidFill>
              </a:rPr>
              <a:t>Hyperbolic Geometric Priors</a:t>
            </a:r>
          </a:p>
          <a:p>
            <a:pPr algn="l"/>
            <a:r>
              <a:rPr sz="4400" b="1">
                <a:solidFill>
                  <a:srgbClr val="1F3A5F"/>
                </a:solidFill>
              </a:rPr>
              <a:t>for LLM Jailbreak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7729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>
                <a:solidFill>
                  <a:srgbClr val="7F8C8D"/>
                </a:solidFill>
              </a:rPr>
              <a:t>A Controlled Comparison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</a:rPr>
              <a:t>Methodology critique • HPS vs C4 vs MTP</a:t>
            </a:r>
          </a:p>
          <a:p>
            <a:pPr algn="l"/>
            <a:r>
              <a:rPr sz="1600" b="0">
                <a:solidFill>
                  <a:srgbClr val="2C3E50"/>
                </a:solidFill>
              </a:rPr>
              <a:t>Cross-model evaluation: Llama-3-8B vs Vicuna-13B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</a:rPr>
              <a:t>Team meeting — Findings &amp; Open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1. Do Hyperbolic Priors Help Jailbreak Detection?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 i="1">
                <a:solidFill>
                  <a:srgbClr val="7F8C8D"/>
                </a:solidFill>
              </a:rPr>
              <a:t>A controlled comparison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760720" cy="2286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300">
                <a:solidFill>
                  <a:srgbClr val="2C3E50"/>
                </a:solidFill>
              </a:rPr>
              <a:t>• HypLoRA (NeurIPS 2025): LLM token embeddings show empirical δ-hyperbolicity (tree-like structure)</a:t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HELM (NeurIPS 2025): Power-law radial structure / negative Ricci curvature</a:t>
            </a:r>
          </a:p>
          <a:p>
            <a:pPr algn="l"/>
            <a:r>
              <a:rPr sz="1300">
                <a:solidFill>
                  <a:srgbClr val="2C3E50"/>
                </a:solidFill>
              </a:rPr>
              <a:t>• Theoretical prediction: hyperbolic projection should provide useful inductive bias for distinguishing harmful (specific) from benign (general)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5760720" cy="1280160"/>
          </a:xfrm>
          <a:prstGeom prst="roundRect">
            <a:avLst/>
          </a:prstGeom>
          <a:solidFill>
            <a:srgbClr val="FEF9E7"/>
          </a:solidFill>
          <a:ln w="952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55778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"If LLM activations have hierarchical structure, does hyperbolic projection provide a measurable detection advantage over flat (Euclidean) baselines?"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5760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What we built: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5760720" cy="914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00">
                <a:solidFill>
                  <a:srgbClr val="2C3E50"/>
                </a:solidFill>
              </a:rPr>
              <a:t>• HPS (Hyperbolic Projection Sentinel): Lorentz contrastive framework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Parameter-matched Euclidean ablation + linear probe baseline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Two LLMs: Llama-3-8B-Instruct (RLHF) vs Vicuna-13B-v1.5 (SFT-only)</a:t>
            </a:r>
          </a:p>
        </p:txBody>
      </p:sp>
      <p:pic>
        <p:nvPicPr>
          <p:cNvPr id="10" name="Picture 9" descr="fig_lorentz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28153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6126480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</a:rPr>
              <a:t>Hypothesis: attacks at higher radial 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2. Methods Under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 i="1">
                <a:solidFill>
                  <a:srgbClr val="7F8C8D"/>
                </a:solidFill>
              </a:rPr>
              <a:t>Four-method controlled comparison with parameter-matched ablation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Architecture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Parameters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Innovation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HPS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Lorentz proj + 12 trajectory features +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262K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Hyperbolic geometric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HPS-Euclidean (control)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Same arch, FLAT geometry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262K (matched)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Tests if geometry matters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C4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Mean-pool 6 layers' last-token +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4,097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Adapted from Anthropic Cheap Monitors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MTP (baseline)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Mean-pool tokens at 1 layer + LR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4,097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Faithful Anthropic reproduction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657600"/>
            <a:ext cx="11247120" cy="1097280"/>
          </a:xfrm>
          <a:prstGeom prst="roundRect">
            <a:avLst/>
          </a:prstGeom>
          <a:solidFill>
            <a:srgbClr val="ECF0F1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11064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HPS pipeline: Activations [N=6 layers] → W·activations (project to 64-d) → Lorentz hyperboloid (κ=0.1, frozen) → 12 trajectory features (5 radial + 4 curvature + 3 displacement) → LR.
Trained with per-layer-temperature contrastive loss, 50 epochs.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60"/>
            <a:ext cx="11247120" cy="1463040"/>
          </a:xfrm>
          <a:prstGeom prst="roundRect">
            <a:avLst/>
          </a:prstGeom>
          <a:solidFill>
            <a:srgbClr val="FEF9E7"/>
          </a:solidFill>
          <a:ln w="952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110642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Why HPS-Euclidean control is critical:
Without parameter-matched Euclidean, any HPS-vs-C4 win could be 'more parameters helped.' HPS-Euclidean has IDENTICAL parameter count and architecture, only flat geometry. This isolates the geometric prior.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200" b="1">
                <a:solidFill>
                  <a:srgbClr val="F39C12"/>
                </a:solidFill>
              </a:rPr>
              <a:t>3. Methodology Surprise #1 — Length Confound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 i="1">
                <a:solidFill>
                  <a:srgbClr val="7F8C8D"/>
                </a:solidFill>
              </a:rPr>
              <a:t>A trivial classifier using only prompt length detects 96.9% of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Length-only classifier (just len(prompt), no model)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004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Length-only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2C3E50"/>
                          </a:solidFill>
                        </a:rPr>
                        <a:t>AUROC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400">
                          <a:solidFill>
                            <a:srgbClr val="2C3E50"/>
                          </a:solidFill>
                        </a:rP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2C3E50"/>
                          </a:solidFill>
                        </a:rPr>
                        <a:t>TPR @ 5% FPR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400">
                          <a:solidFill>
                            <a:srgbClr val="2C3E50"/>
                          </a:solidFill>
                        </a:rPr>
                        <a:t>0.969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400" b="1">
                          <a:solidFill>
                            <a:srgbClr val="2C3E50"/>
                          </a:solidFill>
                        </a:rPr>
                        <a:t>TPR @ 1% FPR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400">
                          <a:solidFill>
                            <a:srgbClr val="2C3E50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291840"/>
            <a:ext cx="5029200" cy="914400"/>
          </a:xfrm>
          <a:prstGeom prst="roundRect">
            <a:avLst/>
          </a:prstGeom>
          <a:solidFill>
            <a:srgbClr val="FEF9E7"/>
          </a:solidFill>
          <a:ln w="952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A classifier that NEVER LOOKS at the prompt CONTENT — only its length — catches 96.9% of attacks at 5% FPR.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Length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5029200" cy="1371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00">
                <a:solidFill>
                  <a:srgbClr val="2C3E50"/>
                </a:solidFill>
              </a:rPr>
              <a:t>• Alpaca harmless: very short (mean ~12-60 chars)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Attacks: weighted mean 218 chars, extreme by-attack variation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Per-attack lengths range 35 (gcg) → 2,193 (puzzler)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Per-attack length-only AUROC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0" y="1828800"/>
          <a:ext cx="5760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Attack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Mean length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Length-only AUROC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puzzler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2,193 chars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saa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473 chars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drattack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437 chars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base64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124 chars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ijp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460 chars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autodan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77 chars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0.999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72 chars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0.997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zulu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50 chars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0.976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9184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gcg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35 chars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>
                          <a:solidFill>
                            <a:srgbClr val="2C3E50"/>
                          </a:solidFill>
                        </a:rPr>
                        <a:t>0.971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852160"/>
            <a:ext cx="11247120" cy="822960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Our fix: Diverse benign data (WildChat + OR-Bench + MMLU + GSM8K + WikiText long-form). After fix → length-only AUROC: 0.992 → 0.318. Permutation: 0.498 (real signal exists).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200" b="1">
                <a:solidFill>
                  <a:srgbClr val="F39C12"/>
                </a:solidFill>
              </a:rPr>
              <a:t>4. Methodology Surprise #2 — max_length Confound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 i="1">
                <a:solidFill>
                  <a:srgbClr val="7F8C8D"/>
                </a:solidFill>
              </a:rPr>
              <a:t>Inconsistent token truncation → norm-only AUROC = 1.000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The bug: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760720" cy="2103120"/>
          </a:xfrm>
          <a:prstGeom prst="roundRect">
            <a:avLst/>
          </a:prstGeom>
          <a:solidFill>
            <a:srgbClr val="ECF0F1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557784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Original cache:
  benign max_length = 512    attacks max_length = 512   ✓ consistent
  → Norm-only AUROC = 0.917
Diverse benign cache (after length confound fix):
  benign max_length = 2048   attacks REUSED at 512   ✗ MISMATCH
  → Norm-only AUROC = 1.000  ← perfect detection from norm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760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Layer 31 (deepest) activation norms: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48056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4290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Old cache (consistent)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Diverse cache (mismatch)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4290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Benign mean 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155.6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35.5 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Attack mean norm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153.0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153.0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290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Ratio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1.0×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4.3×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943600"/>
            <a:ext cx="5760720" cy="777240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577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The fix: Re-extract attacks at max_length=2048 to match diverse benign.
  Norm-only AUROC: 1.000 → 0.761 ✓ (confound largely resolved)
  Permutation test AUROC = 0.498 → real signal exists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63040"/>
            <a:ext cx="5303520" cy="4937760"/>
          </a:xfrm>
          <a:prstGeom prst="roundRect">
            <a:avLst/>
          </a:prstGeom>
          <a:solidFill>
            <a:srgbClr val="ECF0F1"/>
          </a:solidFill>
          <a:ln w="9525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45920"/>
            <a:ext cx="493776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Norm-controlled evaluation</a:t>
            </a:r>
          </a:p>
          <a:p>
            <a:pPr algn="l"/>
            <a:r>
              <a:rPr sz="1400" b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C3E50"/>
                </a:solidFill>
              </a:rPr>
              <a:t>Across L2-normalize, standardize, and</a:t>
            </a:r>
          </a:p>
          <a:p>
            <a:pPr algn="l"/>
            <a:r>
              <a:rPr sz="1400" b="0">
                <a:solidFill>
                  <a:srgbClr val="2C3E50"/>
                </a:solidFill>
              </a:rPr>
              <a:t>L2+std controls:</a:t>
            </a:r>
          </a:p>
          <a:p>
            <a:pPr algn="l"/>
            <a:r>
              <a:rPr sz="1400" b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C3E50"/>
                </a:solidFill>
              </a:rPr>
              <a:t>  norm-only AUROC:  0.76 → 0.55</a:t>
            </a:r>
          </a:p>
          <a:p>
            <a:pPr algn="l"/>
            <a:r>
              <a:rPr sz="1400" b="0">
                <a:solidFill>
                  <a:srgbClr val="2C3E50"/>
                </a:solidFill>
              </a:rPr>
              <a:t>  C4 TPR @ 5% FPR:  0.995 → 0.996</a:t>
            </a:r>
          </a:p>
          <a:p>
            <a:pPr algn="l"/>
            <a:r>
              <a:rPr sz="1400" b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C3E50"/>
                </a:solidFill>
              </a:rPr>
              <a:t>→ C4 is robust to all norm controls.</a:t>
            </a:r>
          </a:p>
          <a:p>
            <a:pPr algn="l"/>
            <a:r>
              <a:rPr sz="1400" b="0">
                <a:solidFill>
                  <a:srgbClr val="2C3E50"/>
                </a:solidFill>
              </a:rPr>
              <a:t>  Real semantic signal exists beyond norm.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00800"/>
            <a:ext cx="5303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</a:rPr>
              <a:t>(see paper appendix for full norm-control table)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200" b="1">
                <a:solidFill>
                  <a:srgbClr val="27AE60"/>
                </a:solidFill>
              </a:rPr>
              <a:t>5. Finding 1 — Geometric Hypothesis Confirmed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 i="1">
                <a:solidFill>
                  <a:srgbClr val="7F8C8D"/>
                </a:solidFill>
              </a:rPr>
              <a:t>After methodology fixes: 0/13 inversions across all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13 configurations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10972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• 5 random seeds (κ=0.1, 50 epochs)</a:t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4 epoch checkpoints (5, 10, 25, 50)</a:t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4 curvature κ values (0.1, 0.5, 1.0, 2.0)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5029200" cy="1280160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48463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Result: 0/13 inversions.
All configurations show benign median &lt; attack median.
Hyperbolic prior is VALIDATED.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Mechanism: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Hyperbolic prior predicts: harmful (specific) → high radial.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Before length-confound fix: appeared inverted (length-shortcut).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After fix: attacks ARE at higher radial, as theory predicts.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035040"/>
            <a:ext cx="5029200" cy="777240"/>
          </a:xfrm>
          <a:prstGeom prst="roundRect">
            <a:avLst/>
          </a:prstGeom>
          <a:solidFill>
            <a:srgbClr val="ECF0F1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080760"/>
            <a:ext cx="4846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The geometric prior is theoretically valid. Hyperbolic projection learns the meaningful direction once data is clean.</a:t>
            </a:r>
          </a:p>
        </p:txBody>
      </p:sp>
      <p:pic>
        <p:nvPicPr>
          <p:cNvPr id="12" name="Picture 11" descr="slide5_radi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943600" cy="3261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6400800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</a:rPr>
              <a:t>Radial distribution: benign (median 3.20) vs attacks (median 3.50). 0/13 inversions.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6. Finding 2 — HPS Doesn't Beat Linear Probes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 i="1">
                <a:solidFill>
                  <a:srgbClr val="7F8C8D"/>
                </a:solidFill>
              </a:rPr>
              <a:t>Geometric prior helps over flat (+0.049 TPR), but C4 still wins (+0.015 TPR)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TPR@5%FPR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MTP (Anthropic)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4,097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C4 (linear probe)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0.999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0.995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4,097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HPS (Lorentz)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0.997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0.991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262K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HPS-Euclidean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0.968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0.931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262K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5029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Key deltas: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5029200" cy="12801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00">
                <a:solidFill>
                  <a:srgbClr val="2C3E50"/>
                </a:solidFill>
              </a:rPr>
              <a:t>• HPS − HPS-Euclidean: +0.060 TPR (geometry helps over flat)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HPS − C4: −0.004 TPR (linear probe still wins)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MTP − C4: +0.000 (axis swap doesn't matter)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5029200" cy="1691640"/>
          </a:xfrm>
          <a:prstGeom prst="roundRect">
            <a:avLst/>
          </a:prstGeom>
          <a:solidFill>
            <a:srgbClr val="FDEDEC"/>
          </a:solidFill>
          <a:ln w="9525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484632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Prediction agreement (calibrated 5% FPR thresholds):
  • HPS catches that C4 misses:  0 examples
  • C4 catches that HPS misses:  21 examples
  • Pearson(HPS, C4) = 0.958
  • OR-gate ensemble: no TPR gain, FPR doubles to 0.103
→ HPS is essentially a noisy SUBSET of C4.</a:t>
            </a:r>
          </a:p>
        </p:txBody>
      </p:sp>
      <p:pic>
        <p:nvPicPr>
          <p:cNvPr id="9" name="Picture 8" descr="slide6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6126480" cy="2593191"/>
          </a:xfrm>
          <a:prstGeom prst="rect">
            <a:avLst/>
          </a:prstGeom>
        </p:spPr>
      </p:pic>
      <p:pic>
        <p:nvPicPr>
          <p:cNvPr id="10" name="Picture 9" descr="slide6_cold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297680"/>
            <a:ext cx="6126480" cy="3331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200" b="1">
                <a:solidFill>
                  <a:srgbClr val="E74C3C"/>
                </a:solidFill>
              </a:rPr>
              <a:t>7. Finding 3 — Alignment-Mediated Failure on Vicuna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 i="1">
                <a:solidFill>
                  <a:srgbClr val="7F8C8D"/>
                </a:solidFill>
              </a:rPr>
              <a:t>HPS catches 7.6% of GCG on Vicuna; C4 catches 99% — same code, only LLM differs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212080" cy="1554480"/>
          </a:xfrm>
          <a:prstGeom prst="roundRect">
            <a:avLst/>
          </a:prstGeom>
          <a:solidFill>
            <a:srgbClr val="FDEDEC"/>
          </a:solidFill>
          <a:ln w="9525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029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HPS GCG detection rate:
  Llama-3-8B-Instruct (RLHF):  100% (172/172)
  Vicuna-13B-v1.5 (SFT only):    7.6% (13/171)
Cross-model gap: −92 percentage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212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Per-attack on Vicuna-13B: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520440"/>
          <a:ext cx="52120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Attack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HPS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C4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gcg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0.076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0.994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+0.92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ijp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0.329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0.933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+0.60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pair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0.389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0.958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+0.57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puzzler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0.462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+0.54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2C3E50"/>
                          </a:solidFill>
                        </a:rPr>
                        <a:t>zulu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+0.37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2C3E50"/>
                          </a:solidFill>
                        </a:rPr>
                        <a:t>autodan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0.701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+0.30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2C3E50"/>
                          </a:solidFill>
                        </a:rPr>
                        <a:t>base64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0.922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+0.08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2C3E50"/>
                          </a:solidFill>
                        </a:rPr>
                        <a:t>drattack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0.956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+0.04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42316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 b="1">
                          <a:solidFill>
                            <a:srgbClr val="2C3E50"/>
                          </a:solidFill>
                        </a:rPr>
                        <a:t>saa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</a:rPr>
                        <a:t>+0.01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Mean detection: HPS = 0.61, C4 = 0.99</a:t>
            </a:r>
          </a:p>
        </p:txBody>
      </p:sp>
      <p:pic>
        <p:nvPicPr>
          <p:cNvPr id="9" name="Picture 8" descr="slide7_vicuna_per_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943600" cy="29505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0" y="5212080"/>
            <a:ext cx="5943600" cy="1463040"/>
          </a:xfrm>
          <a:prstGeom prst="roundRect">
            <a:avLst/>
          </a:prstGeom>
          <a:solidFill>
            <a:srgbClr val="ECF0F1"/>
          </a:solidFill>
          <a:ln w="9525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5257800"/>
            <a:ext cx="5760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Mechanism: RLHF concentrates harm features into compact regions; SFT-only leaves them diffuse. HPS's 12-feature compression preserves concentrated signals (Llama-3) but filters out diffuse ones (Vicuna).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8. The Threat Surface — Bailey et al. (ICLR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 i="1">
                <a:solidFill>
                  <a:srgbClr val="7F8C8D"/>
                </a:solidFill>
              </a:rPr>
              <a:t>All latent-space defenses fail under adaptive attacks — field-wide finding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9718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Defense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Standard recall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Under adaptive attack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9718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Logistic regression probe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Sec 3.3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29718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MLP probe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Sec 3.3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29718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Sparse autoencoder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91%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Sec 5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29718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OOD detector (Mahalanobis)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Sec 3.3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29718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Adv-trained probe (70 rounds)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perfect on past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0% on new attacks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E74C3C"/>
                          </a:solidFill>
                        </a:rPr>
                        <a:t>Sec 3.5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29718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Circuit Breakers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broken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broken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Sec 3.4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97180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LAT (Latent Adv Training)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broken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broken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</a:rPr>
                        <a:t>Sec 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023360"/>
            <a:ext cx="11247120" cy="1005840"/>
          </a:xfrm>
          <a:prstGeom prst="roundRect">
            <a:avLst/>
          </a:prstGeom>
          <a:solidFill>
            <a:srgbClr val="ECF0F1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"Obfuscated activations are not rare exceptions but rather appear to be widespread in the latent space... an attacker can always find new activations that bypass the monitor."
                                                                — Bailey et al. (ICLR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12080"/>
            <a:ext cx="11247120" cy="1463040"/>
          </a:xfrm>
          <a:prstGeom prst="roundRect">
            <a:avLst/>
          </a:prstGeom>
          <a:solidFill>
            <a:srgbClr val="FEF9E7"/>
          </a:solidFill>
          <a:ln w="952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Bottom line for our paper:
We do not claim adversarial robustness. Bailey et al. shows it doesn't exist for any activation-based probe variant, including ensembles and adversarially trained probes. We compare methods under standard (non-adaptive) conditions; adaptive robustness is a field-wide open problem.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9. What We Found vs. What's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 i="1">
                <a:solidFill>
                  <a:srgbClr val="7F8C8D"/>
                </a:solidFill>
              </a:rPr>
              <a:t>Need team input on framing, venue, and next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760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</a:rP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760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Methodology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760720" cy="1371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00">
                <a:solidFill>
                  <a:srgbClr val="2C3E50"/>
                </a:solidFill>
              </a:rPr>
              <a:t>• Length confound: AUROC=0.992 from length alone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max_length confound: norm-only AUROC=1.000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Train/test contamination: 15 prompts (1.15%) overlap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5760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Empirical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760720" cy="1828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00">
                <a:solidFill>
                  <a:srgbClr val="2C3E50"/>
                </a:solidFill>
              </a:rPr>
              <a:t>• Geometric hypothesis CONFIRMED (0/13 inversions)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HPS &gt; HPS-Euclidean (+0.049 TPR matched-params)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Vicuna alignment-mediated failure (gcg: 7.6% vs 99%)</a:t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Linear probes (C4 ≈ MTP ≈ HPS) on aligned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39C12"/>
                </a:solidFill>
              </a:rPr>
              <a:t>WHAT'S OPEN — DECISIONS FOR THE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48640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Q1: Where to publish?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    TMLR (60-65%) | AAAI (35-50%) | USENIX (25-40%)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    Recommendation: TMLR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Q2: Run adaptive attacks experiment?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    1-2 days compute, predicted: confirms Bailey et al.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Q3: Add Llama-2-7b-chat? CRITICAL.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    SFT+RLHF on Vicuna's base model = clean ablation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    of RLHF as the variable (vs Vicuna SFT-only)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Q4: What's the lead?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    methodology critique | architectural | alignment-mediated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Q5: Multi-turn pivot? 6mo vs 6wk TMLR submission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126480"/>
            <a:ext cx="11247120" cy="548640"/>
          </a:xfrm>
          <a:prstGeom prst="roundRect">
            <a:avLst/>
          </a:prstGeom>
          <a:solidFill>
            <a:srgbClr val="FEF9E7"/>
          </a:solidFill>
          <a:ln w="952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Looking for input on: paper venue, framing priority, whether to add adaptive attacks, and whether to pivot to multi-turn.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7F8C8D"/>
                </a:solidFill>
              </a:rPr>
              <a:t>Backup: Anticipated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Q: If geometric priors don't beat linear probes, why publish?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A: Three field-wide methodology issues + controlled comparison + alignment-mediated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Q: Why no adversarial robustness?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A: Bailey et al. (ICLR 2025) shows all latent probes fail. Confirmed limitation.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Q: Are JBShield/HSF/RTV wrong?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A: No — but their benchmarks have inherited methodology issues. Fix is diverse benign.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Q: Why Vicuna-13B?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A: Same family as Llama-2 base, but SFT-only. Isolates alignment as the variable.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Q: What if HPS fails on Llama-2-chat too?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A: Sharpens story to 'specific aligned-model class'. Either way, ablation strengthens paper.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Q: How does this compare to JBShield's 99% detection?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A: Their 99% likely includes substantial length signal. Reproducing on diverse benign would tell 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Q: TMLR timeline?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A: 4-6 weeks writing → submission August → decision November (3 month review).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Q: Compute budget used?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A: ~10h cache extractions + 5h experiments. ~15 GPU-days project total.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